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3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0" y="73152"/>
            <a:ext cx="3474720" cy="4997196"/>
          </a:xfrm>
          <a:prstGeom prst="rect">
            <a:avLst/>
          </a:prstGeom>
          <a:solidFill>
            <a:srgbClr val="1A3561"/>
          </a:solidFill>
          <a:ln w="12700">
            <a:solidFill>
              <a:srgbClr val="1A3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35040" y="365760"/>
            <a:ext cx="2743200" cy="2743200"/>
          </a:xfrm>
          <a:prstGeom prst="ellipse">
            <a:avLst/>
          </a:prstGeom>
          <a:solidFill>
            <a:srgbClr val="1E4080"/>
          </a:solidFill>
          <a:ln w="25400">
            <a:solidFill>
              <a:srgbClr val="6B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355080" y="685800"/>
            <a:ext cx="2103120" cy="2103120"/>
          </a:xfrm>
          <a:prstGeom prst="ellipse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005840"/>
            <a:ext cx="1280160" cy="1280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FA8C8"/>
                </a:solidFill>
              </a:rPr>
              <a:t>GLOBAL HEALTH REPORT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3703320"/>
            <a:ext cx="2834640" cy="402336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371246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B"/>
                </a:solidFill>
              </a:rPr>
              <a:t>22 Years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3895344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8"/>
                </a:solidFill>
              </a:rPr>
              <a:t>2000–2021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943600" y="4233672"/>
            <a:ext cx="2834640" cy="402336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0" y="424281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B"/>
                </a:solidFill>
              </a:rPr>
              <a:t>Global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0" y="442569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8"/>
                </a:solidFill>
              </a:rPr>
              <a:t>Countries Tracked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20040" y="7315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SUICIDE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320040" y="13716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ANALYSIS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320040" y="2194560"/>
            <a:ext cx="1280160" cy="292608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0040" y="21945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2000 – 2021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0040" y="2537460"/>
            <a:ext cx="5120640" cy="1696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CBD8EC"/>
                </a:solidFill>
              </a:rPr>
              <a:t>A comprehensive analysis of suicide rates</a:t>
            </a:r>
            <a:endParaRPr lang="en-US" sz="20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CBD8EC"/>
                </a:solidFill>
              </a:rPr>
              <a:t>across continents, demographics, and time periods</a:t>
            </a:r>
            <a:endParaRPr lang="en-US" sz="20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CBD8EC"/>
                </a:solidFill>
              </a:rPr>
              <a:t>to identify patterns and inform policy action.</a:t>
            </a:r>
            <a:endParaRPr lang="en-US" sz="2000" b="1" dirty="0"/>
          </a:p>
        </p:txBody>
      </p:sp>
      <p:sp>
        <p:nvSpPr>
          <p:cNvPr id="21" name="Shape 18"/>
          <p:cNvSpPr/>
          <p:nvPr/>
        </p:nvSpPr>
        <p:spPr>
          <a:xfrm>
            <a:off x="0" y="4572000"/>
            <a:ext cx="5486400" cy="498348"/>
          </a:xfrm>
          <a:prstGeom prst="rect">
            <a:avLst/>
          </a:prstGeom>
          <a:solidFill>
            <a:srgbClr val="1A3561"/>
          </a:solidFill>
          <a:ln w="12700">
            <a:solidFill>
              <a:srgbClr val="1A3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20040" y="4617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</a:rPr>
              <a:t>Prepared by: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645920" y="4617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B"/>
                </a:solidFill>
              </a:rPr>
              <a:t>Olanrewaju Faruq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2004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</a:rPr>
              <a:t>Public Health Research Division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8"/>
                </a:solidFill>
              </a:rPr>
              <a:t>Global Suicide Rate Analysis (2000–2021)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8"/>
                </a:solidFill>
              </a:rPr>
              <a:t>Olanrewaju Faruq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4023360" cy="1352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87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About This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3611880" cy="1005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A4A60"/>
                </a:solidFill>
              </a:rPr>
              <a:t>This report presents an analysis of global suicide rates across countries from 2000 to 2021. Countries were grouped into continents to identify key patterns and trends.</a:t>
            </a:r>
            <a:endParaRPr lang="en-US" sz="1100" b="1" dirty="0"/>
          </a:p>
        </p:txBody>
      </p:sp>
      <p:sp>
        <p:nvSpPr>
          <p:cNvPr id="11" name="Text 9"/>
          <p:cNvSpPr/>
          <p:nvPr/>
        </p:nvSpPr>
        <p:spPr>
          <a:xfrm>
            <a:off x="274320" y="2305951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Objectives</a:t>
            </a:r>
            <a:endParaRPr lang="en-US" sz="13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195FC39-7BA5-CE39-5655-1A3FEB35636F}"/>
              </a:ext>
            </a:extLst>
          </p:cNvPr>
          <p:cNvGrpSpPr/>
          <p:nvPr/>
        </p:nvGrpSpPr>
        <p:grpSpPr>
          <a:xfrm>
            <a:off x="251460" y="2628900"/>
            <a:ext cx="1920240" cy="640080"/>
            <a:chOff x="274320" y="2359152"/>
            <a:chExt cx="1920240" cy="640080"/>
          </a:xfrm>
        </p:grpSpPr>
        <p:sp>
          <p:nvSpPr>
            <p:cNvPr id="12" name="Shape 10"/>
            <p:cNvSpPr/>
            <p:nvPr/>
          </p:nvSpPr>
          <p:spPr>
            <a:xfrm>
              <a:off x="274320" y="2359152"/>
              <a:ext cx="192024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74320" y="2359152"/>
              <a:ext cx="457200" cy="640080"/>
            </a:xfrm>
            <a:prstGeom prst="rect">
              <a:avLst/>
            </a:prstGeom>
            <a:solidFill>
              <a:srgbClr val="8B1A2D"/>
            </a:solidFill>
            <a:ln w="12700">
              <a:solidFill>
                <a:srgbClr val="8B1A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274320" y="2542032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01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77240" y="2468880"/>
              <a:ext cx="137160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3A4A60"/>
                  </a:solidFill>
                </a:rPr>
                <a:t>Identify the continent with the highest suicide rate</a:t>
              </a:r>
              <a:endParaRPr lang="en-US" sz="1000" b="1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661A359-6145-0B7B-4A61-486E22718388}"/>
              </a:ext>
            </a:extLst>
          </p:cNvPr>
          <p:cNvGrpSpPr/>
          <p:nvPr/>
        </p:nvGrpSpPr>
        <p:grpSpPr>
          <a:xfrm>
            <a:off x="2340033" y="2579855"/>
            <a:ext cx="1920240" cy="640080"/>
            <a:chOff x="2331720" y="2359152"/>
            <a:chExt cx="1920240" cy="640080"/>
          </a:xfrm>
        </p:grpSpPr>
        <p:sp>
          <p:nvSpPr>
            <p:cNvPr id="16" name="Shape 14"/>
            <p:cNvSpPr/>
            <p:nvPr/>
          </p:nvSpPr>
          <p:spPr>
            <a:xfrm>
              <a:off x="2331720" y="2359152"/>
              <a:ext cx="192024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331720" y="2359152"/>
              <a:ext cx="457200" cy="640080"/>
            </a:xfrm>
            <a:prstGeom prst="rect">
              <a:avLst/>
            </a:prstGeom>
            <a:solidFill>
              <a:srgbClr val="8B1A2D"/>
            </a:solidFill>
            <a:ln w="12700">
              <a:solidFill>
                <a:srgbClr val="8B1A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2331720" y="2542032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02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834640" y="2468880"/>
              <a:ext cx="137160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3A4A60"/>
                  </a:solidFill>
                </a:rPr>
                <a:t>Determine the most affected gender</a:t>
              </a:r>
              <a:endParaRPr lang="en-US" sz="1000" b="1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FE24EFB-7C84-4D10-FFB1-3EEF59AC41EC}"/>
              </a:ext>
            </a:extLst>
          </p:cNvPr>
          <p:cNvGrpSpPr/>
          <p:nvPr/>
        </p:nvGrpSpPr>
        <p:grpSpPr>
          <a:xfrm>
            <a:off x="228600" y="3420687"/>
            <a:ext cx="1920240" cy="640080"/>
            <a:chOff x="274320" y="3108960"/>
            <a:chExt cx="1920240" cy="640080"/>
          </a:xfrm>
        </p:grpSpPr>
        <p:sp>
          <p:nvSpPr>
            <p:cNvPr id="20" name="Shape 18"/>
            <p:cNvSpPr/>
            <p:nvPr/>
          </p:nvSpPr>
          <p:spPr>
            <a:xfrm>
              <a:off x="274320" y="3108960"/>
              <a:ext cx="192024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274320" y="3108960"/>
              <a:ext cx="457200" cy="640080"/>
            </a:xfrm>
            <a:prstGeom prst="rect">
              <a:avLst/>
            </a:prstGeom>
            <a:solidFill>
              <a:srgbClr val="8B1A2D"/>
            </a:solidFill>
            <a:ln w="12700">
              <a:solidFill>
                <a:srgbClr val="8B1A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4320" y="32918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03</a:t>
              </a:r>
              <a:endParaRPr lang="en-US" sz="13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77240" y="3218688"/>
              <a:ext cx="137160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3A4A60"/>
                  </a:solidFill>
                </a:rPr>
                <a:t>Analyze suicide trends over time</a:t>
              </a:r>
              <a:endParaRPr lang="en-US" sz="1000" b="1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9A2A814-E794-968F-1A81-3E067C621275}"/>
              </a:ext>
            </a:extLst>
          </p:cNvPr>
          <p:cNvGrpSpPr/>
          <p:nvPr/>
        </p:nvGrpSpPr>
        <p:grpSpPr>
          <a:xfrm>
            <a:off x="2377440" y="3420687"/>
            <a:ext cx="1920240" cy="640080"/>
            <a:chOff x="2331720" y="3108960"/>
            <a:chExt cx="1920240" cy="640080"/>
          </a:xfrm>
        </p:grpSpPr>
        <p:sp>
          <p:nvSpPr>
            <p:cNvPr id="24" name="Shape 22"/>
            <p:cNvSpPr/>
            <p:nvPr/>
          </p:nvSpPr>
          <p:spPr>
            <a:xfrm>
              <a:off x="2331720" y="3108960"/>
              <a:ext cx="192024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2331720" y="3108960"/>
              <a:ext cx="457200" cy="640080"/>
            </a:xfrm>
            <a:prstGeom prst="rect">
              <a:avLst/>
            </a:prstGeom>
            <a:solidFill>
              <a:srgbClr val="8B1A2D"/>
            </a:solidFill>
            <a:ln w="12700">
              <a:solidFill>
                <a:srgbClr val="8B1A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2331720" y="32918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04</a:t>
              </a:r>
              <a:endParaRPr lang="en-US" sz="13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2834640" y="3218688"/>
              <a:ext cx="137160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3A4A60"/>
                  </a:solidFill>
                </a:rPr>
                <a:t>Identify the most affected age group</a:t>
              </a:r>
              <a:endParaRPr lang="en-US" sz="1000" b="1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4572000" y="914400"/>
            <a:ext cx="4297680" cy="3886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1051560"/>
            <a:ext cx="1828800" cy="1828800"/>
          </a:xfrm>
          <a:prstGeom prst="ellipse">
            <a:avLst/>
          </a:prstGeom>
          <a:solidFill>
            <a:srgbClr val="1A3561"/>
          </a:solidFill>
          <a:ln w="12700">
            <a:solidFill>
              <a:srgbClr val="6B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75120" y="2011680"/>
            <a:ext cx="1645920" cy="1645920"/>
          </a:xfrm>
          <a:prstGeom prst="ellipse">
            <a:avLst/>
          </a:prstGeom>
          <a:solidFill>
            <a:srgbClr val="8B1A2D"/>
          </a:solidFill>
          <a:ln w="12700">
            <a:solidFill>
              <a:srgbClr val="B32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731520" cy="731520"/>
          </a:xfrm>
          <a:prstGeom prst="rect">
            <a:avLst/>
          </a:prstGeom>
        </p:spPr>
      </p:pic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331720"/>
            <a:ext cx="640080" cy="6400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66344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B"/>
                </a:solidFill>
              </a:rPr>
              <a:t>Mental Health Matters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663440" y="34015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BD8EC"/>
                </a:solidFill>
              </a:rPr>
              <a:t>Data-driven insights for</a:t>
            </a:r>
            <a:endParaRPr lang="en-US" sz="1200" b="1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BD8EC"/>
                </a:solidFill>
              </a:rPr>
              <a:t>global health policy decisions</a:t>
            </a:r>
            <a:endParaRPr lang="en-US" sz="1200" b="1" dirty="0"/>
          </a:p>
        </p:txBody>
      </p:sp>
      <p:sp>
        <p:nvSpPr>
          <p:cNvPr id="35" name="Shape 31"/>
          <p:cNvSpPr/>
          <p:nvPr/>
        </p:nvSpPr>
        <p:spPr>
          <a:xfrm>
            <a:off x="4846320" y="3977640"/>
            <a:ext cx="3749040" cy="73152"/>
          </a:xfrm>
          <a:prstGeom prst="rect">
            <a:avLst/>
          </a:prstGeom>
          <a:solidFill>
            <a:srgbClr val="6B8FC2"/>
          </a:solidFill>
          <a:ln w="12700">
            <a:solidFill>
              <a:srgbClr val="6B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4663440" y="4160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</a:rPr>
              <a:t>22 years of data  ·  Global coverage  ·  Multi-dimensional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8"/>
                </a:solidFill>
              </a:rPr>
              <a:t>Global Suicide Rate Analysis (2000–2021)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8"/>
                </a:solidFill>
              </a:rPr>
              <a:t>Olanrewaju Faruq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457200" cy="457200"/>
          </a:xfrm>
          <a:prstGeom prst="ellipse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25296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11704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FC2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11480" y="1691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Dataset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1480" y="1947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4A60"/>
                </a:solidFill>
              </a:rPr>
              <a:t>Suicide rates per 100,000 population from validated global health databases</a:t>
            </a:r>
            <a:endParaRPr lang="en-US" sz="1050" b="1" dirty="0"/>
          </a:p>
        </p:txBody>
      </p:sp>
      <p:sp>
        <p:nvSpPr>
          <p:cNvPr id="14" name="Shape 11"/>
          <p:cNvSpPr/>
          <p:nvPr/>
        </p:nvSpPr>
        <p:spPr>
          <a:xfrm>
            <a:off x="3154680" y="100584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91840" y="1170432"/>
            <a:ext cx="457200" cy="4572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225296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13048" y="11704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FC2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291840" y="1691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Categorization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291840" y="1947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4A60"/>
                </a:solidFill>
              </a:rPr>
              <a:t>Countries were systematically grouped into continental regions for comparison</a:t>
            </a:r>
            <a:endParaRPr lang="en-US" sz="1050" b="1" dirty="0"/>
          </a:p>
        </p:txBody>
      </p:sp>
      <p:sp>
        <p:nvSpPr>
          <p:cNvPr id="20" name="Shape 16"/>
          <p:cNvSpPr/>
          <p:nvPr/>
        </p:nvSpPr>
        <p:spPr>
          <a:xfrm>
            <a:off x="6035040" y="100584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172200" y="1170432"/>
            <a:ext cx="457200" cy="457200"/>
          </a:xfrm>
          <a:prstGeom prst="ellipse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22529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93408" y="11704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FC2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172200" y="1691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Trend Analysis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172200" y="1947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4A60"/>
                </a:solidFill>
              </a:rPr>
              <a:t>Temporal analysis spanning 2000–2021 to track changes over two decades</a:t>
            </a:r>
            <a:endParaRPr lang="en-US" sz="1050" b="1" dirty="0"/>
          </a:p>
        </p:txBody>
      </p:sp>
      <p:sp>
        <p:nvSpPr>
          <p:cNvPr id="26" name="Shape 21"/>
          <p:cNvSpPr/>
          <p:nvPr/>
        </p:nvSpPr>
        <p:spPr>
          <a:xfrm>
            <a:off x="1709928" y="269748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1847088" y="2862072"/>
            <a:ext cx="457200" cy="457200"/>
          </a:xfrm>
          <a:prstGeom prst="ellipse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096" y="2916936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368296" y="28620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FC2"/>
                </a:solidFill>
              </a:rPr>
              <a:t>04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1847088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Segmentation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847088" y="363931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4A60"/>
                </a:solidFill>
              </a:rPr>
              <a:t>Data segmented by gender and age groups for demographic insights</a:t>
            </a:r>
            <a:endParaRPr lang="en-US" sz="1050" b="1" dirty="0"/>
          </a:p>
        </p:txBody>
      </p:sp>
      <p:sp>
        <p:nvSpPr>
          <p:cNvPr id="32" name="Shape 26"/>
          <p:cNvSpPr/>
          <p:nvPr/>
        </p:nvSpPr>
        <p:spPr>
          <a:xfrm>
            <a:off x="4590288" y="2697480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727448" y="2862072"/>
            <a:ext cx="457200" cy="4572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2916936"/>
            <a:ext cx="329184" cy="32918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248656" y="28620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FC2"/>
                </a:solidFill>
              </a:rPr>
              <a:t>05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4727448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Averages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4727448" y="363931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4A60"/>
                </a:solidFill>
              </a:rPr>
              <a:t>Continental averages calculated to enable fair cross-region comparisons</a:t>
            </a:r>
            <a:endParaRPr lang="en-US" sz="105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 Rate by Continent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8"/>
                </a:solidFill>
              </a:rPr>
              <a:t>Global Suicide Rate Analysis (2000–2021)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8"/>
                </a:solidFill>
              </a:rPr>
              <a:t>Olanrewaju Faruq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</a:rPr>
              <a:t>Oceania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286000" y="1033272"/>
            <a:ext cx="5029200" cy="320040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0" y="1033272"/>
            <a:ext cx="4557713" cy="320040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06640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1F3D"/>
                </a:solidFill>
              </a:rPr>
              <a:t>14.5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6448" y="108813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DA5"/>
                </a:solidFill>
              </a:rPr>
              <a:t>per 100k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04288" y="1042416"/>
            <a:ext cx="685800" cy="173736"/>
          </a:xfrm>
          <a:prstGeom prst="rect">
            <a:avLst/>
          </a:prstGeom>
          <a:solidFill>
            <a:srgbClr val="8B1A2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04288" y="1042416"/>
            <a:ext cx="685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HIGHEST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743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</a:rPr>
              <a:t>Europe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286000" y="1627632"/>
            <a:ext cx="5029200" cy="320040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0" y="1627632"/>
            <a:ext cx="4400550" cy="320040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1645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1F3D"/>
                </a:solidFill>
              </a:rPr>
              <a:t>14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56448" y="16824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DA5"/>
                </a:solidFill>
              </a:rPr>
              <a:t>per 100k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</a:rPr>
              <a:t>South</a:t>
            </a:r>
            <a:r>
              <a:rPr lang="en-US" dirty="0">
                <a:solidFill>
                  <a:srgbClr val="0F1F3D"/>
                </a:solidFill>
              </a:rPr>
              <a:t> </a:t>
            </a:r>
            <a:r>
              <a:rPr lang="en-US" b="1" dirty="0">
                <a:solidFill>
                  <a:srgbClr val="0F1F3D"/>
                </a:solidFill>
              </a:rPr>
              <a:t>America</a:t>
            </a:r>
            <a:endParaRPr lang="en-US" b="1" dirty="0"/>
          </a:p>
        </p:txBody>
      </p:sp>
      <p:sp>
        <p:nvSpPr>
          <p:cNvPr id="21" name="Shape 19"/>
          <p:cNvSpPr/>
          <p:nvPr/>
        </p:nvSpPr>
        <p:spPr>
          <a:xfrm>
            <a:off x="2286000" y="2221992"/>
            <a:ext cx="5029200" cy="320040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0" y="2221992"/>
            <a:ext cx="3771900" cy="3200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06640" y="22402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1F3D"/>
                </a:solidFill>
              </a:rPr>
              <a:t>12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56448" y="22768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DA5"/>
                </a:solidFill>
              </a:rPr>
              <a:t>per 100k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</a:rPr>
              <a:t>Africa</a:t>
            </a:r>
            <a:endParaRPr lang="en-US" b="1" dirty="0"/>
          </a:p>
        </p:txBody>
      </p:sp>
      <p:sp>
        <p:nvSpPr>
          <p:cNvPr id="26" name="Shape 24"/>
          <p:cNvSpPr/>
          <p:nvPr/>
        </p:nvSpPr>
        <p:spPr>
          <a:xfrm>
            <a:off x="2286000" y="2816352"/>
            <a:ext cx="5029200" cy="320040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0" y="2816352"/>
            <a:ext cx="3457575" cy="320040"/>
          </a:xfrm>
          <a:prstGeom prst="rect">
            <a:avLst/>
          </a:prstGeom>
          <a:solidFill>
            <a:srgbClr val="6B8FC2"/>
          </a:solidFill>
          <a:ln w="12700">
            <a:solidFill>
              <a:srgbClr val="6B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06640" y="2834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1F3D"/>
                </a:solidFill>
              </a:rPr>
              <a:t>11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56448" y="28712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DA5"/>
                </a:solidFill>
              </a:rPr>
              <a:t>per 100k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</a:rPr>
              <a:t>Asia</a:t>
            </a:r>
            <a:endParaRPr lang="en-US" b="1" dirty="0"/>
          </a:p>
        </p:txBody>
      </p:sp>
      <p:sp>
        <p:nvSpPr>
          <p:cNvPr id="31" name="Shape 29"/>
          <p:cNvSpPr/>
          <p:nvPr/>
        </p:nvSpPr>
        <p:spPr>
          <a:xfrm>
            <a:off x="2286000" y="3410712"/>
            <a:ext cx="5029200" cy="320040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86000" y="3410712"/>
            <a:ext cx="2200275" cy="320040"/>
          </a:xfrm>
          <a:prstGeom prst="rect">
            <a:avLst/>
          </a:prstGeom>
          <a:solidFill>
            <a:srgbClr val="7A9CC2"/>
          </a:solidFill>
          <a:ln w="12700">
            <a:solidFill>
              <a:srgbClr val="7A9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06640" y="3429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1F3D"/>
                </a:solidFill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56448" y="346557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DA5"/>
                </a:solidFill>
              </a:rPr>
              <a:t>per 100k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432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</a:rPr>
              <a:t>North America</a:t>
            </a:r>
            <a:endParaRPr lang="en-US" b="1" dirty="0"/>
          </a:p>
        </p:txBody>
      </p:sp>
      <p:sp>
        <p:nvSpPr>
          <p:cNvPr id="36" name="Shape 34"/>
          <p:cNvSpPr/>
          <p:nvPr/>
        </p:nvSpPr>
        <p:spPr>
          <a:xfrm>
            <a:off x="2286000" y="4005072"/>
            <a:ext cx="5029200" cy="320040"/>
          </a:xfrm>
          <a:prstGeom prst="rect">
            <a:avLst/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286000" y="4005072"/>
            <a:ext cx="2074545" cy="320040"/>
          </a:xfrm>
          <a:prstGeom prst="rect">
            <a:avLst/>
          </a:prstGeom>
          <a:solidFill>
            <a:srgbClr val="A0B8D4"/>
          </a:solidFill>
          <a:ln w="12700">
            <a:solidFill>
              <a:srgbClr val="A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06640" y="4023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1F3D"/>
                </a:solidFill>
              </a:rPr>
              <a:t>6.6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56448" y="405993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DA5"/>
                </a:solidFill>
              </a:rPr>
              <a:t>per 100k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304288" y="4014216"/>
            <a:ext cx="685800" cy="173736"/>
          </a:xfrm>
          <a:prstGeom prst="rect">
            <a:avLst/>
          </a:prstGeom>
          <a:solidFill>
            <a:srgbClr val="5A7A9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04288" y="4014216"/>
            <a:ext cx="685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LOWEST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429250" y="932688"/>
            <a:ext cx="0" cy="3657600"/>
          </a:xfrm>
          <a:prstGeom prst="line">
            <a:avLst/>
          </a:prstGeom>
          <a:noFill/>
          <a:ln w="19050">
            <a:solidFill>
              <a:srgbClr val="8B1A2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23410" y="9326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B1A2D"/>
                </a:solidFill>
              </a:rPr>
              <a:t>High Risk</a:t>
            </a:r>
            <a:endParaRPr lang="en-US" sz="750" dirty="0"/>
          </a:p>
          <a:p>
            <a:pPr marL="0" indent="0" algn="r">
              <a:buNone/>
            </a:pPr>
            <a:r>
              <a:rPr lang="en-US" sz="750" i="1" dirty="0">
                <a:solidFill>
                  <a:srgbClr val="8B1A2D"/>
                </a:solidFill>
              </a:rPr>
              <a:t>Threshold →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11480" y="45994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8EC"/>
                </a:solidFill>
              </a:rPr>
              <a:t>💡  Insight: Rates above 10 per 100,000 are considered high — most continents fall in this category, except Asia and North America.</a:t>
            </a:r>
            <a:endParaRPr lang="en-US" sz="11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8"/>
                </a:solidFill>
              </a:rPr>
              <a:t>Global Suicide Rate Analysis (2000–2021)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8"/>
                </a:solidFill>
              </a:rPr>
              <a:t>Olanrewaju Faruq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023360" cy="2834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143000"/>
            <a:ext cx="1188720" cy="1188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4871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2926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BD8EC"/>
                </a:solidFill>
              </a:rPr>
              <a:t>Males consistently record significantly higher suicide rates across all continents worldwide</a:t>
            </a:r>
            <a:endParaRPr lang="en-US" sz="1400" b="1" dirty="0"/>
          </a:p>
        </p:txBody>
      </p:sp>
      <p:sp>
        <p:nvSpPr>
          <p:cNvPr id="12" name="Shape 9"/>
          <p:cNvSpPr/>
          <p:nvPr/>
        </p:nvSpPr>
        <p:spPr>
          <a:xfrm>
            <a:off x="4617720" y="960120"/>
            <a:ext cx="4023360" cy="28346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143000"/>
            <a:ext cx="1188720" cy="11887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24871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Female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892040" y="2926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BD8EC"/>
                </a:solidFill>
              </a:rPr>
              <a:t>Female suicide rates, while present, are consistently lower in all regions studied</a:t>
            </a:r>
            <a:endParaRPr lang="en-US" sz="1400" b="1" dirty="0"/>
          </a:p>
        </p:txBody>
      </p:sp>
      <p:sp>
        <p:nvSpPr>
          <p:cNvPr id="16" name="Shape 12"/>
          <p:cNvSpPr/>
          <p:nvPr/>
        </p:nvSpPr>
        <p:spPr>
          <a:xfrm>
            <a:off x="274320" y="393192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57200" y="398678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</a:rPr>
              <a:t>Male Rate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737360" y="4041648"/>
            <a:ext cx="5029200" cy="1645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737360" y="4224528"/>
            <a:ext cx="2011680" cy="1097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858000" y="39867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FA5"/>
                </a:solidFill>
              </a:rPr>
              <a:t>Female Rate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57200" y="45537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Conclusion: Gender is a key factor — males are significantly more affected worldwide across every continent studied.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 Rate Trends (2000–2021)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8"/>
                </a:solidFill>
              </a:rPr>
              <a:t>Global Suicide Rate Analysis (2000–2021)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8"/>
                </a:solidFill>
              </a:rPr>
              <a:t>Olanrewaju Faruq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0" y="1133856"/>
            <a:ext cx="1234440" cy="219456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13385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4300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1143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</a:rPr>
              <a:t>Oceania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8912" y="16459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A4A60"/>
                </a:solidFill>
              </a:rPr>
              <a:t>Consistently high over the years</a:t>
            </a:r>
            <a:endParaRPr lang="en-US" sz="1400" b="1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269480" y="1133856"/>
            <a:ext cx="1234440" cy="219456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269480" y="113385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IMPROVING</a:t>
            </a:r>
            <a:endParaRPr lang="en-US" sz="7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14300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57800" y="1143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</a:rPr>
              <a:t>Europe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782312" y="16459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A4A60"/>
                </a:solidFill>
              </a:rPr>
              <a:t>Gradual decline observed over two decades</a:t>
            </a:r>
            <a:endParaRPr lang="en-US" sz="1400" b="1" dirty="0"/>
          </a:p>
        </p:txBody>
      </p:sp>
      <p:sp>
        <p:nvSpPr>
          <p:cNvPr id="20" name="Shape 16"/>
          <p:cNvSpPr/>
          <p:nvPr/>
        </p:nvSpPr>
        <p:spPr>
          <a:xfrm>
            <a:off x="274320" y="248716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926080" y="2615184"/>
            <a:ext cx="1234440" cy="21945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926080" y="261518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STABLE</a:t>
            </a:r>
            <a:endParaRPr lang="en-US" sz="7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624328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4400" y="2624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</a:rPr>
              <a:t>Asia &amp; N. America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438912" y="312724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A4A60"/>
                </a:solidFill>
              </a:rPr>
              <a:t>Relatively stable, low-range trends</a:t>
            </a:r>
            <a:endParaRPr lang="en-US" sz="1400" b="1" dirty="0"/>
          </a:p>
        </p:txBody>
      </p:sp>
      <p:sp>
        <p:nvSpPr>
          <p:cNvPr id="26" name="Shape 21"/>
          <p:cNvSpPr/>
          <p:nvPr/>
        </p:nvSpPr>
        <p:spPr>
          <a:xfrm>
            <a:off x="4617720" y="248716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269480" y="2615184"/>
            <a:ext cx="1234440" cy="21945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7269480" y="261518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WATCH</a:t>
            </a:r>
            <a:endParaRPr lang="en-US" sz="7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2624328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257800" y="2624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</a:rPr>
              <a:t>Africa &amp; S. America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4782312" y="312724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A4A60"/>
                </a:solidFill>
              </a:rPr>
              <a:t>Mostly stable with slight recent increases</a:t>
            </a:r>
            <a:endParaRPr lang="en-US" sz="1400" b="1" dirty="0"/>
          </a:p>
        </p:txBody>
      </p:sp>
      <p:sp>
        <p:nvSpPr>
          <p:cNvPr id="32" name="Shape 26"/>
          <p:cNvSpPr/>
          <p:nvPr/>
        </p:nvSpPr>
        <p:spPr>
          <a:xfrm>
            <a:off x="274320" y="4224528"/>
            <a:ext cx="859536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315968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04672" y="4279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</a:rPr>
              <a:t>Key Observation: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804672" y="4517136"/>
            <a:ext cx="7909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8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noticeable spike occurred in 2021, particularly in Africa — warranting urgent investigation and intervention.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8"/>
                </a:solidFill>
              </a:rPr>
              <a:t>Global Suicide Rate Analysis (2000–2021)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8"/>
                </a:solidFill>
              </a:rPr>
              <a:t>Olanrewaju Faruq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75488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0972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B"/>
                </a:solidFill>
              </a:rPr>
              <a:t>General Global Trend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572767"/>
            <a:ext cx="4297680" cy="7315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BD8EC"/>
                </a:solidFill>
              </a:rPr>
              <a:t>Suicide rates generally increase with age. Older populations are the most affected globally, indicating that elderly mental health requires priority attention.</a:t>
            </a:r>
            <a:endParaRPr lang="en-US" sz="1400" b="1" dirty="0"/>
          </a:p>
        </p:txBody>
      </p:sp>
      <p:sp>
        <p:nvSpPr>
          <p:cNvPr id="11" name="Shape 9"/>
          <p:cNvSpPr/>
          <p:nvPr/>
        </p:nvSpPr>
        <p:spPr>
          <a:xfrm>
            <a:off x="274320" y="2697480"/>
            <a:ext cx="4754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Age Group Progression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43554"/>
            <a:ext cx="502920" cy="142646"/>
          </a:xfrm>
          <a:prstGeom prst="rect">
            <a:avLst/>
          </a:prstGeom>
          <a:solidFill>
            <a:srgbClr val="6B8FC2"/>
          </a:solidFill>
          <a:ln w="12700">
            <a:solidFill>
              <a:srgbClr val="6B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90448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A4A60"/>
                </a:solidFill>
              </a:rPr>
              <a:t>15–19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207008" y="3615172"/>
            <a:ext cx="502920" cy="271028"/>
          </a:xfrm>
          <a:prstGeom prst="rect">
            <a:avLst/>
          </a:prstGeom>
          <a:solidFill>
            <a:srgbClr val="6B8FC2"/>
          </a:solidFill>
          <a:ln w="12700">
            <a:solidFill>
              <a:srgbClr val="6B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61288" y="390448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A4A60"/>
                </a:solidFill>
              </a:rPr>
              <a:t>20–29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956816" y="3493922"/>
            <a:ext cx="502920" cy="392278"/>
          </a:xfrm>
          <a:prstGeom prst="rect">
            <a:avLst/>
          </a:prstGeom>
          <a:solidFill>
            <a:srgbClr val="6B8FC2"/>
          </a:solidFill>
          <a:ln w="12700">
            <a:solidFill>
              <a:srgbClr val="6B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11096" y="390448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A4A60"/>
                </a:solidFill>
              </a:rPr>
              <a:t>30–44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06624" y="3351276"/>
            <a:ext cx="502920" cy="534924"/>
          </a:xfrm>
          <a:prstGeom prst="rect">
            <a:avLst/>
          </a:prstGeom>
          <a:solidFill>
            <a:srgbClr val="6B8FC2"/>
          </a:solidFill>
          <a:ln w="12700">
            <a:solidFill>
              <a:srgbClr val="6B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60904" y="390448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A4A60"/>
                </a:solidFill>
              </a:rPr>
              <a:t>45–59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456432" y="3258556"/>
            <a:ext cx="502920" cy="627644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10712" y="390448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A4A60"/>
                </a:solidFill>
              </a:rPr>
              <a:t>60–74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206240" y="3172968"/>
            <a:ext cx="502920" cy="71323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60520" y="390448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A4A60"/>
                </a:solidFill>
              </a:rPr>
              <a:t>75+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257800" y="1005840"/>
            <a:ext cx="3611880" cy="2971800"/>
          </a:xfrm>
          <a:prstGeom prst="rect">
            <a:avLst/>
          </a:prstGeom>
          <a:solidFill>
            <a:srgbClr val="FFF8F0"/>
          </a:solidFill>
          <a:ln w="254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6" name="Shape 24"/>
          <p:cNvSpPr/>
          <p:nvPr/>
        </p:nvSpPr>
        <p:spPr>
          <a:xfrm>
            <a:off x="5257800" y="1005840"/>
            <a:ext cx="3611880" cy="347472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49240" y="10424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⚠  EXCEPTION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1463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3020"/>
                </a:solidFill>
              </a:rPr>
              <a:t>In these regions, ages 20–29 show rates comparable to much older age groups: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40680" y="2057400"/>
            <a:ext cx="201168" cy="201168"/>
          </a:xfrm>
          <a:prstGeom prst="ellipse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15000" y="20482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Asia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2560320"/>
            <a:ext cx="201168" cy="201168"/>
          </a:xfrm>
          <a:prstGeom prst="ellipse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15000" y="25511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Oceania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0680" y="3063240"/>
            <a:ext cx="201168" cy="201168"/>
          </a:xfrm>
          <a:prstGeom prst="ellipse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15000" y="30540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South America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94960" y="3520440"/>
            <a:ext cx="333756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0" y="354787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BD8EC"/>
                </a:solidFill>
              </a:rPr>
              <a:t>Youth suicide is a significant concern in these regions.</a:t>
            </a:r>
            <a:endParaRPr lang="en-US" sz="105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Africa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8"/>
                </a:solidFill>
              </a:rPr>
              <a:t>Global Suicide Rate Analysis (2000–2021)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8"/>
                </a:solidFill>
              </a:rPr>
              <a:t>Olanrewaju Faruq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384048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10789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B"/>
                </a:solidFill>
              </a:rPr>
              <a:t>Alarming Upward Trend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1480" y="138988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BD8EC"/>
                </a:solidFill>
              </a:rPr>
              <a:t>Steady increase in rates over time, with a sharp and unusual spike recorded in 2021.</a:t>
            </a:r>
            <a:endParaRPr lang="en-US" sz="1400" b="1" dirty="0"/>
          </a:p>
        </p:txBody>
      </p:sp>
      <p:sp>
        <p:nvSpPr>
          <p:cNvPr id="12" name="Text 9"/>
          <p:cNvSpPr/>
          <p:nvPr/>
        </p:nvSpPr>
        <p:spPr>
          <a:xfrm>
            <a:off x="27432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3D"/>
                </a:solidFill>
              </a:rPr>
              <a:t>Critical Countries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74320" y="22677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7A8DA5"/>
                </a:solidFill>
              </a:rPr>
              <a:t>(Rates exceeding 30 per 100,000)</a:t>
            </a:r>
            <a:endParaRPr lang="en-US" sz="1200" b="1" dirty="0"/>
          </a:p>
        </p:txBody>
      </p:sp>
      <p:sp>
        <p:nvSpPr>
          <p:cNvPr id="14" name="Shape 11"/>
          <p:cNvSpPr/>
          <p:nvPr/>
        </p:nvSpPr>
        <p:spPr>
          <a:xfrm>
            <a:off x="274320" y="2578608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4320" y="2578608"/>
            <a:ext cx="109728" cy="566928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429000" y="2670048"/>
            <a:ext cx="594360" cy="25603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29000" y="26700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&gt;30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29000" y="294436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8DA5"/>
                </a:solidFill>
              </a:rPr>
              <a:t>per 100k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02920" y="26700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3D"/>
                </a:solidFill>
              </a:rPr>
              <a:t>Lesotho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02920" y="29077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7A8DA5"/>
                </a:solidFill>
              </a:rPr>
              <a:t>Also critically high in 2020</a:t>
            </a:r>
            <a:endParaRPr lang="en-US" sz="1200" b="1" dirty="0"/>
          </a:p>
        </p:txBody>
      </p:sp>
      <p:sp>
        <p:nvSpPr>
          <p:cNvPr id="21" name="Shape 18"/>
          <p:cNvSpPr/>
          <p:nvPr/>
        </p:nvSpPr>
        <p:spPr>
          <a:xfrm>
            <a:off x="274320" y="3236976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74320" y="3236976"/>
            <a:ext cx="109728" cy="566928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429000" y="3328416"/>
            <a:ext cx="594360" cy="25603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429000" y="332841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&gt;30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29000" y="360273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8DA5"/>
                </a:solidFill>
              </a:rPr>
              <a:t>per 100k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02920" y="33284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3D"/>
                </a:solidFill>
              </a:rPr>
              <a:t>Eswatini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02920" y="356616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7A8DA5"/>
                </a:solidFill>
              </a:rPr>
              <a:t>Extreme risk level</a:t>
            </a:r>
            <a:endParaRPr lang="en-US" sz="1200" b="1" dirty="0"/>
          </a:p>
        </p:txBody>
      </p:sp>
      <p:sp>
        <p:nvSpPr>
          <p:cNvPr id="28" name="Shape 25"/>
          <p:cNvSpPr/>
          <p:nvPr/>
        </p:nvSpPr>
        <p:spPr>
          <a:xfrm>
            <a:off x="274320" y="3895344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74320" y="3895344"/>
            <a:ext cx="109728" cy="566928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429000" y="3986784"/>
            <a:ext cx="594360" cy="25603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429000" y="398678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&gt;30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429000" y="426110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8DA5"/>
                </a:solidFill>
              </a:rPr>
              <a:t>per 100k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02920" y="398678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3D"/>
                </a:solidFill>
              </a:rPr>
              <a:t>Zimbabwe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502920" y="42245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7A8DA5"/>
                </a:solidFill>
              </a:rPr>
              <a:t>Urgent intervention needed</a:t>
            </a:r>
            <a:endParaRPr lang="en-US" sz="1200" b="1" dirty="0"/>
          </a:p>
        </p:txBody>
      </p:sp>
      <p:sp>
        <p:nvSpPr>
          <p:cNvPr id="35" name="Shape 32"/>
          <p:cNvSpPr/>
          <p:nvPr/>
        </p:nvSpPr>
        <p:spPr>
          <a:xfrm>
            <a:off x="4343400" y="960120"/>
            <a:ext cx="4526280" cy="3840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577840" y="1188720"/>
            <a:ext cx="2103120" cy="2103120"/>
          </a:xfrm>
          <a:prstGeom prst="ellipse">
            <a:avLst/>
          </a:prstGeom>
          <a:solidFill>
            <a:srgbClr val="8B1A2D"/>
          </a:solidFill>
          <a:ln w="25400">
            <a:solidFill>
              <a:srgbClr val="B32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54480"/>
            <a:ext cx="1005840" cy="100584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526280" y="352044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&gt;30</a:t>
            </a:r>
            <a:endParaRPr lang="en-US" sz="4400" dirty="0"/>
          </a:p>
        </p:txBody>
      </p:sp>
      <p:sp>
        <p:nvSpPr>
          <p:cNvPr id="39" name="Text 35"/>
          <p:cNvSpPr/>
          <p:nvPr/>
        </p:nvSpPr>
        <p:spPr>
          <a:xfrm>
            <a:off x="4526280" y="409651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A8C8"/>
                </a:solidFill>
              </a:rPr>
              <a:t>per 100,000 population — extremely critical</a:t>
            </a:r>
            <a:endParaRPr lang="en-US" sz="1100" b="1" dirty="0"/>
          </a:p>
        </p:txBody>
      </p:sp>
      <p:sp>
        <p:nvSpPr>
          <p:cNvPr id="40" name="Shape 36"/>
          <p:cNvSpPr/>
          <p:nvPr/>
        </p:nvSpPr>
        <p:spPr>
          <a:xfrm>
            <a:off x="4572000" y="4407408"/>
            <a:ext cx="4069080" cy="320040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663440" y="44348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These levels are considered extremely critical by WHO standards.</a:t>
            </a:r>
            <a:endParaRPr lang="en-US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8"/>
                </a:solidFill>
              </a:rPr>
              <a:t>Global Suicide Rate Analysis (2000–2021)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8"/>
                </a:solidFill>
              </a:rPr>
              <a:t>Olanrewaju Faruq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0700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20700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</a:rPr>
              <a:t>Highest Rate Region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8912" y="1691640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A4A60"/>
                </a:solidFill>
              </a:rPr>
              <a:t>Oceania has the highest suicide rate globally at ~14.5 per 100,000 population</a:t>
            </a:r>
            <a:endParaRPr lang="en-US" sz="1200" b="1" dirty="0"/>
          </a:p>
        </p:txBody>
      </p:sp>
      <p:sp>
        <p:nvSpPr>
          <p:cNvPr id="13" name="Shape 10"/>
          <p:cNvSpPr/>
          <p:nvPr/>
        </p:nvSpPr>
        <p:spPr>
          <a:xfrm>
            <a:off x="3200400" y="10058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00400" y="1005840"/>
            <a:ext cx="2743200" cy="731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20700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40480" y="120700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</a:rPr>
              <a:t>Gender Disparity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364992" y="1691640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A4A60"/>
                </a:solidFill>
              </a:rPr>
              <a:t>Males are the most affected gender across every region analyzed</a:t>
            </a:r>
            <a:endParaRPr lang="en-US" sz="1200" b="1" dirty="0"/>
          </a:p>
        </p:txBody>
      </p:sp>
      <p:sp>
        <p:nvSpPr>
          <p:cNvPr id="18" name="Shape 14"/>
          <p:cNvSpPr/>
          <p:nvPr/>
        </p:nvSpPr>
        <p:spPr>
          <a:xfrm>
            <a:off x="6126480" y="10058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26480" y="1005840"/>
            <a:ext cx="2743200" cy="7315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20700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6560" y="120700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</a:rPr>
              <a:t>Recent Increases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91072" y="1691640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A4A60"/>
                </a:solidFill>
              </a:rPr>
              <a:t>Suicide trends are generally stable but show recent worrying increases</a:t>
            </a:r>
            <a:endParaRPr lang="en-US" sz="1200" b="1" dirty="0"/>
          </a:p>
        </p:txBody>
      </p:sp>
      <p:sp>
        <p:nvSpPr>
          <p:cNvPr id="23" name="Shape 18"/>
          <p:cNvSpPr/>
          <p:nvPr/>
        </p:nvSpPr>
        <p:spPr>
          <a:xfrm>
            <a:off x="274320" y="26060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274320" y="2606040"/>
            <a:ext cx="2743200" cy="73152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2807208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4400" y="280720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</a:rPr>
              <a:t>Age Vulnerability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38912" y="3291840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A4A60"/>
                </a:solidFill>
              </a:rPr>
              <a:t>Older adults most affected globally; youth also at risk in select regions</a:t>
            </a:r>
            <a:endParaRPr lang="en-US" sz="1200" b="1" dirty="0"/>
          </a:p>
        </p:txBody>
      </p:sp>
      <p:sp>
        <p:nvSpPr>
          <p:cNvPr id="28" name="Shape 22"/>
          <p:cNvSpPr/>
          <p:nvPr/>
        </p:nvSpPr>
        <p:spPr>
          <a:xfrm>
            <a:off x="3108960" y="2606040"/>
            <a:ext cx="5852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108960" y="2606040"/>
            <a:ext cx="5852160" cy="7315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2807208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749040" y="2807208"/>
            <a:ext cx="5047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</a:rPr>
              <a:t>African Crisis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3273552" y="3291840"/>
            <a:ext cx="55229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A4A60"/>
                </a:solidFill>
              </a:rPr>
              <a:t>Africa shows alarming upward trends — with critical spikes in 2021 in several nations</a:t>
            </a:r>
            <a:endParaRPr lang="en-US" sz="1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8"/>
                </a:solidFill>
              </a:rPr>
              <a:t>Global Suicide Rate Analysis (2000–2021)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8"/>
                </a:solidFill>
              </a:rPr>
              <a:t>Olanrewaju Faruq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109728" cy="1371600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43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1170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8FC2"/>
                </a:solidFill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Strengthen Mental Health Systems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1920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A4A60"/>
                </a:solidFill>
              </a:rPr>
              <a:t>Especially for older adults — expand access to counseling and psychiatric services</a:t>
            </a:r>
            <a:endParaRPr lang="en-US" sz="1000" b="1" dirty="0"/>
          </a:p>
        </p:txBody>
      </p:sp>
      <p:sp>
        <p:nvSpPr>
          <p:cNvPr id="14" name="Shape 11"/>
          <p:cNvSpPr/>
          <p:nvPr/>
        </p:nvSpPr>
        <p:spPr>
          <a:xfrm>
            <a:off x="3154680" y="10058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154680" y="1005840"/>
            <a:ext cx="109728" cy="13716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17043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49040" y="1170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8FC2"/>
                </a:solidFill>
              </a:rPr>
              <a:t>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33756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Improve Service Accessibility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37560" y="1920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A4A60"/>
                </a:solidFill>
              </a:rPr>
              <a:t>Increase awareness and lower barriers to mental health services globally</a:t>
            </a:r>
            <a:endParaRPr lang="en-US" sz="1000" b="1" dirty="0"/>
          </a:p>
        </p:txBody>
      </p:sp>
      <p:sp>
        <p:nvSpPr>
          <p:cNvPr id="20" name="Shape 16"/>
          <p:cNvSpPr/>
          <p:nvPr/>
        </p:nvSpPr>
        <p:spPr>
          <a:xfrm>
            <a:off x="6035040" y="10058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035040" y="1005840"/>
            <a:ext cx="109728" cy="13716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170432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9400" y="1170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8FC2"/>
                </a:solidFill>
              </a:rPr>
              <a:t>03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21792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Investigate Youth Suicide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217920" y="1920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A4A60"/>
                </a:solidFill>
              </a:rPr>
              <a:t>Urgent research into rising youth rates in Asia, Oceania, and South America</a:t>
            </a:r>
            <a:endParaRPr lang="en-US" sz="1000" b="1" dirty="0"/>
          </a:p>
        </p:txBody>
      </p:sp>
      <p:sp>
        <p:nvSpPr>
          <p:cNvPr id="26" name="Shape 21"/>
          <p:cNvSpPr/>
          <p:nvPr/>
        </p:nvSpPr>
        <p:spPr>
          <a:xfrm>
            <a:off x="274320" y="2542032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274320" y="2542032"/>
            <a:ext cx="109728" cy="1371600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06624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68680" y="2706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8FC2"/>
                </a:solidFill>
              </a:rPr>
              <a:t>04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457200" y="31363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African Government Action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3456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4A60"/>
                </a:solidFill>
              </a:rPr>
              <a:t>Governments must urgently address the rising trend and 2021 spike</a:t>
            </a:r>
            <a:endParaRPr lang="en-US" sz="1050" b="1" dirty="0"/>
          </a:p>
        </p:txBody>
      </p:sp>
      <p:sp>
        <p:nvSpPr>
          <p:cNvPr id="32" name="Shape 26"/>
          <p:cNvSpPr/>
          <p:nvPr/>
        </p:nvSpPr>
        <p:spPr>
          <a:xfrm>
            <a:off x="3154680" y="2542032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3154680" y="2542032"/>
            <a:ext cx="109728" cy="1371600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706624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749040" y="2706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8FC2"/>
                </a:solidFill>
              </a:rPr>
              <a:t>05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3337560" y="31363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Youth Empowerment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3337560" y="3456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A4A60"/>
                </a:solidFill>
              </a:rPr>
              <a:t>Promote economic support programs and community engagement for young people</a:t>
            </a:r>
            <a:endParaRPr lang="en-US" sz="1000" b="1" dirty="0"/>
          </a:p>
        </p:txBody>
      </p:sp>
      <p:sp>
        <p:nvSpPr>
          <p:cNvPr id="38" name="Shape 31"/>
          <p:cNvSpPr/>
          <p:nvPr/>
        </p:nvSpPr>
        <p:spPr>
          <a:xfrm>
            <a:off x="6035040" y="2542032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6035040" y="2542032"/>
            <a:ext cx="109728" cy="13716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706624"/>
            <a:ext cx="347472" cy="34747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629400" y="2706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8FC2"/>
                </a:solidFill>
              </a:rPr>
              <a:t>06</a:t>
            </a:r>
            <a:endParaRPr lang="en-US" sz="1500" dirty="0"/>
          </a:p>
        </p:txBody>
      </p:sp>
      <p:sp>
        <p:nvSpPr>
          <p:cNvPr id="42" name="Text 34"/>
          <p:cNvSpPr/>
          <p:nvPr/>
        </p:nvSpPr>
        <p:spPr>
          <a:xfrm>
            <a:off x="6217920" y="31363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Target Male Mental Health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6217920" y="3456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A4A60"/>
                </a:solidFill>
              </a:rPr>
              <a:t>Develop male-specific interventions — awareness campaigns and support networks</a:t>
            </a:r>
            <a:endParaRPr lang="en-US" sz="1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1A2D"/>
          </a:solidFill>
          <a:ln w="12700">
            <a:solidFill>
              <a:srgbClr val="8B1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8FA8C8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Suicide Remains a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Global Concern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2011680" cy="54864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5303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8EC"/>
                </a:solidFill>
              </a:rPr>
              <a:t>Although patterns vary across continents, gender and age play significant roles in determining risk. Targeted policies and interventions are essential to reduce rates and improve well-being worldwide.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93008"/>
            <a:ext cx="1554480" cy="822960"/>
          </a:xfrm>
          <a:prstGeom prst="rect">
            <a:avLst/>
          </a:prstGeom>
          <a:solidFill>
            <a:srgbClr val="1A3561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9593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C8"/>
                </a:solidFill>
              </a:rPr>
              <a:t>Years Analyzed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0" y="3493008"/>
            <a:ext cx="1554480" cy="822960"/>
          </a:xfrm>
          <a:prstGeom prst="rect">
            <a:avLst/>
          </a:prstGeom>
          <a:solidFill>
            <a:srgbClr val="1A3561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0" y="35478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286000" y="39593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C8"/>
                </a:solidFill>
              </a:rPr>
              <a:t>Continents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3493008"/>
            <a:ext cx="1554480" cy="822960"/>
          </a:xfrm>
          <a:prstGeom prst="rect">
            <a:avLst/>
          </a:prstGeom>
          <a:solidFill>
            <a:srgbClr val="1A3561"/>
          </a:solidFill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0" y="35478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114800" y="39593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C8"/>
                </a:solidFill>
              </a:rPr>
              <a:t>Key Dimensions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0" y="457200"/>
            <a:ext cx="3017520" cy="4526280"/>
          </a:xfrm>
          <a:prstGeom prst="rect">
            <a:avLst/>
          </a:prstGeom>
          <a:solidFill>
            <a:srgbClr val="1A3561"/>
          </a:solidFill>
          <a:ln w="12700">
            <a:solidFill>
              <a:srgbClr val="1A3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640080"/>
            <a:ext cx="2377440" cy="2377440"/>
          </a:xfrm>
          <a:prstGeom prst="ellipse">
            <a:avLst/>
          </a:prstGeom>
          <a:solidFill>
            <a:srgbClr val="1E4080"/>
          </a:solidFill>
          <a:ln w="12700">
            <a:solidFill>
              <a:srgbClr val="6B8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005840"/>
            <a:ext cx="1280160" cy="12801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94360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943600" y="37307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4B"/>
                </a:solidFill>
              </a:rPr>
              <a:t>Olanrewaju Faruq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43600" y="40050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</a:rPr>
              <a:t>Public Health Research Division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819</Words>
  <Application>Microsoft Office PowerPoint</Application>
  <PresentationFormat>On-screen Show (16:9)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Suicide Rate Analysis (2000–2021)</dc:title>
  <dc:subject>PptxGenJS Presentation</dc:subject>
  <dc:creator>Olanrewaju Faruq</dc:creator>
  <cp:lastModifiedBy>olanrewaju faruq</cp:lastModifiedBy>
  <cp:revision>3</cp:revision>
  <dcterms:created xsi:type="dcterms:W3CDTF">2026-03-21T19:02:03Z</dcterms:created>
  <dcterms:modified xsi:type="dcterms:W3CDTF">2026-03-21T20:01:59Z</dcterms:modified>
</cp:coreProperties>
</file>